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Slab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 /><Relationship Id="rId13" Type="http://schemas.openxmlformats.org/officeDocument/2006/relationships/font" Target="fonts/font6.fntdata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12" Type="http://schemas.openxmlformats.org/officeDocument/2006/relationships/font" Target="fonts/font5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font" Target="fonts/font2.fntdata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6819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Customer data including Credit Utilization, Missed Payments, Income, Debt-to-Income Ratio, Account Tenure, and payment history.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Logistic Regression generates a delinquency risk score, combined with business rules to determine the appropriate intervention.</a:t>
            </a:r>
            <a:endParaRPr lang="en-GB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Trigger personalized payment reminders, supportive outreach, or hardship support, with complex cases escalated to Collections staff.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Track repayment rates, customer engagement, and collection effectiveness to improve future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2436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11300" lvl="3" indent="0">
              <a:buNone/>
            </a:pPr>
            <a:r>
              <a:rPr lang="en-GB" sz="1800" b="1" dirty="0"/>
              <a:t>Autonomous</a:t>
            </a:r>
          </a:p>
          <a:p>
            <a:pPr marL="1511300" lvl="3" indent="0">
              <a:buNone/>
            </a:pPr>
            <a:endParaRPr lang="en-GB" sz="1800" b="1" dirty="0"/>
          </a:p>
          <a:p>
            <a:r>
              <a:rPr lang="en-GB" dirty="0"/>
              <a:t>Monitor customer risk signals</a:t>
            </a:r>
          </a:p>
          <a:p>
            <a:r>
              <a:rPr lang="en-GB" dirty="0"/>
              <a:t>Personalize outreach timing and messaging</a:t>
            </a:r>
          </a:p>
          <a:p>
            <a:r>
              <a:rPr lang="en-GB" dirty="0"/>
              <a:t>Send routine payment reminders</a:t>
            </a:r>
          </a:p>
          <a:p>
            <a:r>
              <a:rPr lang="en-GB" dirty="0"/>
              <a:t>Monitor outcomes and adjust routine strategies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FFBE30-D61C-5914-2635-E987B22B064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56202" y="1489825"/>
            <a:ext cx="3999900" cy="2436716"/>
          </a:xfrm>
        </p:spPr>
        <p:txBody>
          <a:bodyPr/>
          <a:lstStyle/>
          <a:p>
            <a:pPr marL="1054100" lvl="2" indent="0">
              <a:buNone/>
            </a:pPr>
            <a:r>
              <a:rPr lang="en-GB" sz="1800" b="1" dirty="0"/>
              <a:t>Human Oversight</a:t>
            </a:r>
          </a:p>
          <a:p>
            <a:endParaRPr lang="en-GB" dirty="0"/>
          </a:p>
          <a:p>
            <a:r>
              <a:rPr lang="en-GB" dirty="0"/>
              <a:t>Handle complex customer cases</a:t>
            </a:r>
          </a:p>
          <a:p>
            <a:r>
              <a:rPr lang="en-GB" dirty="0"/>
              <a:t>Review personalized hardship plans</a:t>
            </a:r>
          </a:p>
          <a:p>
            <a:r>
              <a:rPr lang="en-GB" dirty="0"/>
              <a:t>Review customer disputes</a:t>
            </a:r>
          </a:p>
          <a:p>
            <a:r>
              <a:rPr lang="en-GB" dirty="0"/>
              <a:t>Approve high-impact interventions</a:t>
            </a:r>
          </a:p>
          <a:p>
            <a:r>
              <a:rPr lang="en-GB" dirty="0"/>
              <a:t>Handle exceptions and ensure compliance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1FDF3-1853-E7C5-A10C-2F4D4835083B}"/>
              </a:ext>
            </a:extLst>
          </p:cNvPr>
          <p:cNvSpPr txBox="1"/>
          <p:nvPr/>
        </p:nvSpPr>
        <p:spPr>
          <a:xfrm>
            <a:off x="2452913" y="4272241"/>
            <a:ext cx="4606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AI handles routine decisions; humans remain accountable for complex and high-impact decisions.</a:t>
            </a:r>
            <a:endParaRPr lang="en-US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4821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600" b="1" dirty="0"/>
              <a:t>Fairness</a:t>
            </a:r>
          </a:p>
          <a:p>
            <a:r>
              <a:rPr lang="en-GB" sz="1400" dirty="0"/>
              <a:t>Regularly check predictions across customer groups to identify and reduce unfair outcomes or bias.</a:t>
            </a:r>
          </a:p>
          <a:p>
            <a:pPr>
              <a:buNone/>
            </a:pPr>
            <a:r>
              <a:rPr lang="en-GB" sz="1600" b="1" dirty="0"/>
              <a:t>Explainability</a:t>
            </a:r>
          </a:p>
          <a:p>
            <a:r>
              <a:rPr lang="en-GB" sz="1400" dirty="0"/>
              <a:t>Use an interpretable model and clearly explain why a customer is identified as higher risk.</a:t>
            </a:r>
            <a:endParaRPr lang="en-GB" sz="1600" dirty="0"/>
          </a:p>
          <a:p>
            <a:pPr marL="114300" indent="0">
              <a:buNone/>
            </a:pPr>
            <a:r>
              <a:rPr lang="en-GB" sz="1600" b="1" dirty="0"/>
              <a:t>Compliance</a:t>
            </a:r>
          </a:p>
          <a:p>
            <a:r>
              <a:rPr lang="en-GB" sz="1400" dirty="0"/>
              <a:t>Maintain audit trails and ensure the system follows applicable financial regulations, such as ECOA, GDPR, and local data-protection requirements.</a:t>
            </a:r>
          </a:p>
          <a:p>
            <a:pPr marL="114300" indent="0">
              <a:buNone/>
            </a:pPr>
            <a:r>
              <a:rPr lang="en-GB" sz="1600" b="1" dirty="0"/>
              <a:t>Human Oversight</a:t>
            </a:r>
          </a:p>
          <a:p>
            <a:r>
              <a:rPr lang="en-GB" sz="1400" dirty="0"/>
              <a:t>Escalate complex, disputed, borderline, or high-impact decisions to trained Collections staff.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2CFC81-7E3B-AA52-C037-4A8EB329C8A2}"/>
              </a:ext>
            </a:extLst>
          </p:cNvPr>
          <p:cNvSpPr txBox="1"/>
          <p:nvPr/>
        </p:nvSpPr>
        <p:spPr>
          <a:xfrm>
            <a:off x="1660201" y="4563721"/>
            <a:ext cx="5823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i="1" dirty="0">
                <a:solidFill>
                  <a:schemeClr val="tx1"/>
                </a:solidFill>
              </a:rPr>
              <a:t>AI should support Collections decisions - not replace human judgment.</a:t>
            </a:r>
            <a:endParaRPr lang="en-US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2674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en-GB" sz="1600" b="1" dirty="0"/>
              <a:t>Business KPIs</a:t>
            </a:r>
          </a:p>
          <a:p>
            <a:pPr algn="ctr">
              <a:buNone/>
            </a:pPr>
            <a:endParaRPr lang="en-GB" sz="1600" b="1" dirty="0"/>
          </a:p>
          <a:p>
            <a:r>
              <a:rPr lang="en-GB" dirty="0"/>
              <a:t>10% target reduction in late or missed payments</a:t>
            </a:r>
            <a:r>
              <a:rPr lang="en-GB" b="1" dirty="0"/>
              <a:t> </a:t>
            </a:r>
            <a:r>
              <a:rPr lang="en-GB" dirty="0"/>
              <a:t>during</a:t>
            </a:r>
            <a:r>
              <a:rPr lang="en-GB" b="1" dirty="0"/>
              <a:t> </a:t>
            </a:r>
            <a:r>
              <a:rPr lang="en-GB" dirty="0"/>
              <a:t>the</a:t>
            </a:r>
            <a:r>
              <a:rPr lang="en-GB" b="1" dirty="0"/>
              <a:t> </a:t>
            </a:r>
            <a:r>
              <a:rPr lang="en-GB" dirty="0"/>
              <a:t>6-week</a:t>
            </a:r>
            <a:r>
              <a:rPr lang="en-GB" b="1" dirty="0"/>
              <a:t> </a:t>
            </a:r>
            <a:r>
              <a:rPr lang="en-GB" dirty="0"/>
              <a:t>pilot</a:t>
            </a:r>
          </a:p>
          <a:p>
            <a:r>
              <a:rPr lang="en-GB" dirty="0"/>
              <a:t>Increased repayment rates</a:t>
            </a:r>
          </a:p>
          <a:p>
            <a:r>
              <a:rPr lang="en-GB" dirty="0"/>
              <a:t>More efficient Collections prioritization</a:t>
            </a:r>
          </a:p>
          <a:p>
            <a:r>
              <a:rPr lang="en-GB" dirty="0"/>
              <a:t>Potential reduction in unnecessary outreach and collection costs</a:t>
            </a:r>
          </a:p>
          <a:p>
            <a:r>
              <a:rPr lang="en-GB" dirty="0"/>
              <a:t>Scalable risk-based outreach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C9A3DD-182B-DBD7-7B4E-A7A15623AF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56200" y="1489825"/>
            <a:ext cx="3999900" cy="2674921"/>
          </a:xfrm>
        </p:spPr>
        <p:txBody>
          <a:bodyPr/>
          <a:lstStyle/>
          <a:p>
            <a:pPr marL="139700" indent="0" algn="ctr">
              <a:buNone/>
            </a:pPr>
            <a:r>
              <a:rPr lang="en-GB" sz="1600" b="1" dirty="0"/>
              <a:t>Customer</a:t>
            </a:r>
            <a:r>
              <a:rPr lang="en-GB" dirty="0"/>
              <a:t> </a:t>
            </a:r>
            <a:r>
              <a:rPr lang="en-GB" b="1" dirty="0"/>
              <a:t>Outcomes</a:t>
            </a:r>
          </a:p>
          <a:p>
            <a:pPr marL="139700" indent="0" algn="ctr">
              <a:buNone/>
            </a:pPr>
            <a:endParaRPr lang="en-GB" b="1" dirty="0"/>
          </a:p>
          <a:p>
            <a:r>
              <a:rPr lang="en-GB" dirty="0"/>
              <a:t>Earlier and more relevant payment support</a:t>
            </a:r>
          </a:p>
          <a:p>
            <a:r>
              <a:rPr lang="en-GB" dirty="0"/>
              <a:t>More personalized communication</a:t>
            </a:r>
          </a:p>
          <a:p>
            <a:r>
              <a:rPr lang="en-GB" dirty="0"/>
              <a:t>Fairer and more consistent treatment</a:t>
            </a:r>
          </a:p>
          <a:p>
            <a:r>
              <a:rPr lang="en-GB" dirty="0"/>
              <a:t>Greater transparency in AI-driven outreach</a:t>
            </a:r>
          </a:p>
          <a:p>
            <a:r>
              <a:rPr lang="en-GB" dirty="0"/>
              <a:t>Human support for complex cases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B4DC9-4478-E779-2DA7-5F8E362E75A5}"/>
              </a:ext>
            </a:extLst>
          </p:cNvPr>
          <p:cNvSpPr txBox="1"/>
          <p:nvPr/>
        </p:nvSpPr>
        <p:spPr>
          <a:xfrm>
            <a:off x="2013000" y="4162255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Targeted AI-driven outreach can help </a:t>
            </a:r>
            <a:r>
              <a:rPr lang="en-GB" i="1" dirty="0" err="1">
                <a:solidFill>
                  <a:schemeClr val="tx1"/>
                </a:solidFill>
              </a:rPr>
              <a:t>Geldium</a:t>
            </a:r>
            <a:r>
              <a:rPr lang="en-GB" i="1" dirty="0">
                <a:solidFill>
                  <a:schemeClr val="tx1"/>
                </a:solidFill>
              </a:rPr>
              <a:t> reduce delinquency while improving Collections efficiency and customer experience.</a:t>
            </a:r>
            <a:endParaRPr lang="en-US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Office PowerPoint</Application>
  <PresentationFormat>On-screen Show (16:9)</PresentationFormat>
  <Paragraphs>36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cp:lastModifiedBy>Ricky Watson</cp:lastModifiedBy>
  <cp:revision>3</cp:revision>
  <dcterms:modified xsi:type="dcterms:W3CDTF">2026-08-19T05:02:50Z</dcterms:modified>
</cp:coreProperties>
</file>